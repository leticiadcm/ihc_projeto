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Inter-boldItalic.fntdata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710e5a3c1913f7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h710e5a3c1913f7b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57200" y="950119"/>
            <a:ext cx="1577100" cy="115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2120243" y="950119"/>
            <a:ext cx="1577100" cy="115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457200" y="2185988"/>
            <a:ext cx="1577100" cy="115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120243" y="2185988"/>
            <a:ext cx="1577100" cy="2385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457200" y="3421856"/>
            <a:ext cx="1577100" cy="115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3783285" y="950119"/>
            <a:ext cx="1577100" cy="1150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5446328" y="950119"/>
            <a:ext cx="1577100" cy="1150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3783285" y="2185988"/>
            <a:ext cx="1577100" cy="1150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5446328" y="2185988"/>
            <a:ext cx="1577100" cy="1150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3783285" y="3421856"/>
            <a:ext cx="3240600" cy="1150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7109370" y="950119"/>
            <a:ext cx="1577400" cy="11502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7109370" y="2185988"/>
            <a:ext cx="1577400" cy="11502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7109370" y="3421856"/>
            <a:ext cx="1577400" cy="11502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457200" y="950119"/>
            <a:ext cx="1577100" cy="28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2120243" y="950119"/>
            <a:ext cx="1577100" cy="28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457200" y="2185988"/>
            <a:ext cx="1577100" cy="28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2120243" y="2185988"/>
            <a:ext cx="1577100" cy="28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457200" y="3421856"/>
            <a:ext cx="1577100" cy="285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3783285" y="950119"/>
            <a:ext cx="1577100" cy="285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5446328" y="950119"/>
            <a:ext cx="1577100" cy="285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3783285" y="2185988"/>
            <a:ext cx="1577100" cy="285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5446328" y="2185988"/>
            <a:ext cx="1577100" cy="285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3783285" y="3421856"/>
            <a:ext cx="3240600" cy="285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7109370" y="950119"/>
            <a:ext cx="1577400" cy="285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7109370" y="2185988"/>
            <a:ext cx="1577400" cy="285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7109370" y="3421856"/>
            <a:ext cx="1577400" cy="285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457200" y="4729163"/>
            <a:ext cx="114300" cy="114300"/>
          </a:xfrm>
          <a:prstGeom prst="roundRect">
            <a:avLst>
              <a:gd fmla="val 25000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1843088" y="4729163"/>
            <a:ext cx="114300" cy="114300"/>
          </a:xfrm>
          <a:prstGeom prst="roundRect">
            <a:avLst>
              <a:gd fmla="val 25000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2521744" y="4729163"/>
            <a:ext cx="114300" cy="114300"/>
          </a:xfrm>
          <a:prstGeom prst="roundRect">
            <a:avLst>
              <a:gd fmla="val 25000" name="adj"/>
            </a:avLst>
          </a:prstGeom>
          <a:solidFill>
            <a:srgbClr val="EA580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457200" y="285750"/>
            <a:ext cx="868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 canvas em uma página</a:t>
            </a:r>
            <a:endParaRPr sz="1100"/>
          </a:p>
        </p:txBody>
      </p:sp>
      <p:sp>
        <p:nvSpPr>
          <p:cNvPr id="84" name="Google Shape;84;p13"/>
          <p:cNvSpPr txBox="1"/>
          <p:nvPr/>
        </p:nvSpPr>
        <p:spPr>
          <a:xfrm>
            <a:off x="457200" y="628650"/>
            <a:ext cx="8686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13 blocos consolidados do App MicroRotina</a:t>
            </a:r>
            <a:endParaRPr sz="1100"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1092994"/>
            <a:ext cx="177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Justificativas</a:t>
            </a:r>
            <a:endParaRPr sz="110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1293019"/>
            <a:ext cx="1420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Frustração com metas irreais e alta carga mental.</a:t>
            </a:r>
            <a:endParaRPr sz="1100"/>
          </a:p>
        </p:txBody>
      </p:sp>
      <p:sp>
        <p:nvSpPr>
          <p:cNvPr id="87" name="Google Shape;87;p13"/>
          <p:cNvSpPr txBox="1"/>
          <p:nvPr/>
        </p:nvSpPr>
        <p:spPr>
          <a:xfrm>
            <a:off x="2234542" y="1092994"/>
            <a:ext cx="177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Produto</a:t>
            </a:r>
            <a:endParaRPr sz="1100"/>
          </a:p>
        </p:txBody>
      </p:sp>
      <p:sp>
        <p:nvSpPr>
          <p:cNvPr id="88" name="Google Shape;88;p13"/>
          <p:cNvSpPr txBox="1"/>
          <p:nvPr/>
        </p:nvSpPr>
        <p:spPr>
          <a:xfrm>
            <a:off x="2234542" y="1293019"/>
            <a:ext cx="1420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 de micro-hábitos com recompensas imediatas.</a:t>
            </a:r>
            <a:endParaRPr sz="1100"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2328863"/>
            <a:ext cx="177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Objetivo SMART</a:t>
            </a:r>
            <a:endParaRPr sz="1100"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2528888"/>
            <a:ext cx="1420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10 usuários ativos testando até dezembro.</a:t>
            </a:r>
            <a:endParaRPr sz="1100"/>
          </a:p>
        </p:txBody>
      </p:sp>
      <p:sp>
        <p:nvSpPr>
          <p:cNvPr id="91" name="Google Shape;91;p13"/>
          <p:cNvSpPr txBox="1"/>
          <p:nvPr/>
        </p:nvSpPr>
        <p:spPr>
          <a:xfrm>
            <a:off x="2234542" y="2328863"/>
            <a:ext cx="177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Requisitos</a:t>
            </a:r>
            <a:endParaRPr sz="1100"/>
          </a:p>
        </p:txBody>
      </p:sp>
      <p:sp>
        <p:nvSpPr>
          <p:cNvPr id="92" name="Google Shape;92;p13"/>
          <p:cNvSpPr txBox="1"/>
          <p:nvPr/>
        </p:nvSpPr>
        <p:spPr>
          <a:xfrm>
            <a:off x="571500" y="3564731"/>
            <a:ext cx="177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Benefícios</a:t>
            </a:r>
            <a:endParaRPr sz="1100"/>
          </a:p>
        </p:txBody>
      </p:sp>
      <p:sp>
        <p:nvSpPr>
          <p:cNvPr id="93" name="Google Shape;93;p13"/>
          <p:cNvSpPr txBox="1"/>
          <p:nvPr/>
        </p:nvSpPr>
        <p:spPr>
          <a:xfrm>
            <a:off x="571500" y="3764756"/>
            <a:ext cx="1420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Redução de carga mental e rotina consistente.</a:t>
            </a:r>
            <a:endParaRPr sz="1100"/>
          </a:p>
        </p:txBody>
      </p:sp>
      <p:sp>
        <p:nvSpPr>
          <p:cNvPr id="94" name="Google Shape;94;p13"/>
          <p:cNvSpPr txBox="1"/>
          <p:nvPr/>
        </p:nvSpPr>
        <p:spPr>
          <a:xfrm>
            <a:off x="3897585" y="1092994"/>
            <a:ext cx="177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Stakeholders</a:t>
            </a:r>
            <a:endParaRPr sz="1100"/>
          </a:p>
        </p:txBody>
      </p:sp>
      <p:sp>
        <p:nvSpPr>
          <p:cNvPr id="95" name="Google Shape;95;p13"/>
          <p:cNvSpPr txBox="1"/>
          <p:nvPr/>
        </p:nvSpPr>
        <p:spPr>
          <a:xfrm>
            <a:off x="3897585" y="1293019"/>
            <a:ext cx="1420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Professores avaliadores e alunos testadores.</a:t>
            </a:r>
            <a:endParaRPr sz="1100"/>
          </a:p>
        </p:txBody>
      </p:sp>
      <p:sp>
        <p:nvSpPr>
          <p:cNvPr id="96" name="Google Shape;96;p13"/>
          <p:cNvSpPr txBox="1"/>
          <p:nvPr/>
        </p:nvSpPr>
        <p:spPr>
          <a:xfrm>
            <a:off x="5560628" y="1092994"/>
            <a:ext cx="177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Premissas</a:t>
            </a:r>
            <a:endParaRPr sz="1100"/>
          </a:p>
        </p:txBody>
      </p:sp>
      <p:sp>
        <p:nvSpPr>
          <p:cNvPr id="97" name="Google Shape;97;p13"/>
          <p:cNvSpPr txBox="1"/>
          <p:nvPr/>
        </p:nvSpPr>
        <p:spPr>
          <a:xfrm>
            <a:off x="5560628" y="1293019"/>
            <a:ext cx="1420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Smartphones e APIs disponíveis para uso.</a:t>
            </a:r>
            <a:endParaRPr sz="1100"/>
          </a:p>
        </p:txBody>
      </p:sp>
      <p:sp>
        <p:nvSpPr>
          <p:cNvPr id="98" name="Google Shape;98;p13"/>
          <p:cNvSpPr txBox="1"/>
          <p:nvPr/>
        </p:nvSpPr>
        <p:spPr>
          <a:xfrm>
            <a:off x="3897585" y="2328863"/>
            <a:ext cx="177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Equipe</a:t>
            </a:r>
            <a:endParaRPr sz="1100"/>
          </a:p>
        </p:txBody>
      </p:sp>
      <p:sp>
        <p:nvSpPr>
          <p:cNvPr id="99" name="Google Shape;99;p13"/>
          <p:cNvSpPr txBox="1"/>
          <p:nvPr/>
        </p:nvSpPr>
        <p:spPr>
          <a:xfrm>
            <a:off x="3897585" y="2528888"/>
            <a:ext cx="1420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Design, Dev e Qualidade (QA).</a:t>
            </a:r>
            <a:endParaRPr sz="1100"/>
          </a:p>
        </p:txBody>
      </p:sp>
      <p:sp>
        <p:nvSpPr>
          <p:cNvPr id="100" name="Google Shape;100;p13"/>
          <p:cNvSpPr txBox="1"/>
          <p:nvPr/>
        </p:nvSpPr>
        <p:spPr>
          <a:xfrm>
            <a:off x="5560628" y="2328863"/>
            <a:ext cx="177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Grupo de entregas</a:t>
            </a:r>
            <a:endParaRPr sz="1100"/>
          </a:p>
        </p:txBody>
      </p:sp>
      <p:sp>
        <p:nvSpPr>
          <p:cNvPr id="101" name="Google Shape;101;p13"/>
          <p:cNvSpPr txBox="1"/>
          <p:nvPr/>
        </p:nvSpPr>
        <p:spPr>
          <a:xfrm>
            <a:off x="5560628" y="2528888"/>
            <a:ext cx="1420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Canvas, Protótipo, Testes e Código no Git.</a:t>
            </a:r>
            <a:endParaRPr sz="1100"/>
          </a:p>
        </p:txBody>
      </p:sp>
      <p:sp>
        <p:nvSpPr>
          <p:cNvPr id="102" name="Google Shape;102;p13"/>
          <p:cNvSpPr txBox="1"/>
          <p:nvPr/>
        </p:nvSpPr>
        <p:spPr>
          <a:xfrm>
            <a:off x="3897585" y="3564731"/>
            <a:ext cx="3953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Restrições</a:t>
            </a:r>
            <a:endParaRPr sz="1100"/>
          </a:p>
        </p:txBody>
      </p:sp>
      <p:sp>
        <p:nvSpPr>
          <p:cNvPr id="103" name="Google Shape;103;p13"/>
          <p:cNvSpPr txBox="1"/>
          <p:nvPr/>
        </p:nvSpPr>
        <p:spPr>
          <a:xfrm>
            <a:off x="3897585" y="3764756"/>
            <a:ext cx="3764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Prazo estrito do quadrimestre letivo e orçamento zero.</a:t>
            </a:r>
            <a:endParaRPr sz="1100"/>
          </a:p>
        </p:txBody>
      </p:sp>
      <p:sp>
        <p:nvSpPr>
          <p:cNvPr id="104" name="Google Shape;104;p13"/>
          <p:cNvSpPr txBox="1"/>
          <p:nvPr/>
        </p:nvSpPr>
        <p:spPr>
          <a:xfrm>
            <a:off x="7223670" y="1092994"/>
            <a:ext cx="177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rPr>
              <a:t>Riscos</a:t>
            </a:r>
            <a:endParaRPr sz="1100"/>
          </a:p>
        </p:txBody>
      </p:sp>
      <p:sp>
        <p:nvSpPr>
          <p:cNvPr id="105" name="Google Shape;105;p13"/>
          <p:cNvSpPr txBox="1"/>
          <p:nvPr/>
        </p:nvSpPr>
        <p:spPr>
          <a:xfrm>
            <a:off x="7223670" y="1293019"/>
            <a:ext cx="1420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Atraso técnico (B: reduzir escopo interativo).</a:t>
            </a:r>
            <a:endParaRPr sz="1100"/>
          </a:p>
        </p:txBody>
      </p:sp>
      <p:sp>
        <p:nvSpPr>
          <p:cNvPr id="106" name="Google Shape;106;p13"/>
          <p:cNvSpPr txBox="1"/>
          <p:nvPr/>
        </p:nvSpPr>
        <p:spPr>
          <a:xfrm>
            <a:off x="7223670" y="2328863"/>
            <a:ext cx="177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rPr>
              <a:t>Linha do tempo</a:t>
            </a:r>
            <a:endParaRPr sz="1100"/>
          </a:p>
        </p:txBody>
      </p:sp>
      <p:sp>
        <p:nvSpPr>
          <p:cNvPr id="107" name="Google Shape;107;p13"/>
          <p:cNvSpPr txBox="1"/>
          <p:nvPr/>
        </p:nvSpPr>
        <p:spPr>
          <a:xfrm>
            <a:off x="7223670" y="2528888"/>
            <a:ext cx="1420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 17/set (Canvas) até 04/dez (Código final).</a:t>
            </a:r>
            <a:endParaRPr sz="1100"/>
          </a:p>
        </p:txBody>
      </p:sp>
      <p:sp>
        <p:nvSpPr>
          <p:cNvPr id="108" name="Google Shape;108;p13"/>
          <p:cNvSpPr txBox="1"/>
          <p:nvPr/>
        </p:nvSpPr>
        <p:spPr>
          <a:xfrm>
            <a:off x="7223670" y="3564731"/>
            <a:ext cx="1770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9A3412"/>
                </a:solidFill>
                <a:latin typeface="Inter"/>
                <a:ea typeface="Inter"/>
                <a:cs typeface="Inter"/>
                <a:sym typeface="Inter"/>
              </a:rPr>
              <a:t>Custos</a:t>
            </a:r>
            <a:endParaRPr sz="1100"/>
          </a:p>
        </p:txBody>
      </p:sp>
      <p:sp>
        <p:nvSpPr>
          <p:cNvPr id="109" name="Google Shape;109;p13"/>
          <p:cNvSpPr txBox="1"/>
          <p:nvPr/>
        </p:nvSpPr>
        <p:spPr>
          <a:xfrm>
            <a:off x="7223670" y="3764756"/>
            <a:ext cx="1420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120 horas de esforço e ferramentas gratuitas.</a:t>
            </a:r>
            <a:endParaRPr sz="1100"/>
          </a:p>
        </p:txBody>
      </p:sp>
      <p:sp>
        <p:nvSpPr>
          <p:cNvPr id="110" name="Google Shape;110;p13"/>
          <p:cNvSpPr txBox="1"/>
          <p:nvPr/>
        </p:nvSpPr>
        <p:spPr>
          <a:xfrm>
            <a:off x="628650" y="4714875"/>
            <a:ext cx="1232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Gestão do projeto</a:t>
            </a:r>
            <a:endParaRPr sz="1100"/>
          </a:p>
        </p:txBody>
      </p:sp>
      <p:sp>
        <p:nvSpPr>
          <p:cNvPr id="111" name="Google Shape;111;p13"/>
          <p:cNvSpPr txBox="1"/>
          <p:nvPr/>
        </p:nvSpPr>
        <p:spPr>
          <a:xfrm>
            <a:off x="2014538" y="4714875"/>
            <a:ext cx="492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Pitch</a:t>
            </a:r>
            <a:endParaRPr sz="1100"/>
          </a:p>
        </p:txBody>
      </p:sp>
      <p:sp>
        <p:nvSpPr>
          <p:cNvPr id="112" name="Google Shape;112;p13"/>
          <p:cNvSpPr txBox="1"/>
          <p:nvPr/>
        </p:nvSpPr>
        <p:spPr>
          <a:xfrm>
            <a:off x="2693194" y="4714875"/>
            <a:ext cx="1357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Prazo, risco e custo</a:t>
            </a:r>
            <a:endParaRPr sz="1100"/>
          </a:p>
        </p:txBody>
      </p:sp>
      <p:sp>
        <p:nvSpPr>
          <p:cNvPr id="113" name="Google Shape;113;p13"/>
          <p:cNvSpPr txBox="1"/>
          <p:nvPr/>
        </p:nvSpPr>
        <p:spPr>
          <a:xfrm>
            <a:off x="2291693" y="2527101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100"/>
          </a:p>
        </p:txBody>
      </p:sp>
      <p:sp>
        <p:nvSpPr>
          <p:cNvPr id="114" name="Google Shape;114;p13"/>
          <p:cNvSpPr txBox="1"/>
          <p:nvPr/>
        </p:nvSpPr>
        <p:spPr>
          <a:xfrm>
            <a:off x="2348843" y="2528888"/>
            <a:ext cx="154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Ético:</a:t>
            </a: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Dados locais.</a:t>
            </a:r>
            <a:endParaRPr sz="1100"/>
          </a:p>
        </p:txBody>
      </p:sp>
      <p:sp>
        <p:nvSpPr>
          <p:cNvPr id="115" name="Google Shape;115;p13"/>
          <p:cNvSpPr txBox="1"/>
          <p:nvPr/>
        </p:nvSpPr>
        <p:spPr>
          <a:xfrm>
            <a:off x="2291693" y="2723555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100"/>
          </a:p>
        </p:txBody>
      </p:sp>
      <p:sp>
        <p:nvSpPr>
          <p:cNvPr id="116" name="Google Shape;116;p13"/>
          <p:cNvSpPr txBox="1"/>
          <p:nvPr/>
        </p:nvSpPr>
        <p:spPr>
          <a:xfrm>
            <a:off x="2348843" y="2725340"/>
            <a:ext cx="1543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Universal:</a:t>
            </a: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Adaptável.</a:t>
            </a:r>
            <a:endParaRPr sz="1100"/>
          </a:p>
        </p:txBody>
      </p:sp>
      <p:sp>
        <p:nvSpPr>
          <p:cNvPr id="117" name="Google Shape;117;p13"/>
          <p:cNvSpPr txBox="1"/>
          <p:nvPr/>
        </p:nvSpPr>
        <p:spPr>
          <a:xfrm>
            <a:off x="2291693" y="2920007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100"/>
          </a:p>
        </p:txBody>
      </p:sp>
      <p:sp>
        <p:nvSpPr>
          <p:cNvPr id="118" name="Google Shape;118;p13"/>
          <p:cNvSpPr txBox="1"/>
          <p:nvPr/>
        </p:nvSpPr>
        <p:spPr>
          <a:xfrm>
            <a:off x="2348842" y="2921794"/>
            <a:ext cx="1305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Participativo:</a:t>
            </a:r>
            <a:r>
              <a:rPr b="0" i="0" lang="pt-BR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Co-criado.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